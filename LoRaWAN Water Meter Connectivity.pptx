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76" r:id="rId3"/>
    <p:sldId id="268" r:id="rId4"/>
    <p:sldId id="26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0" r:id="rId16"/>
    <p:sldId id="271" r:id="rId17"/>
    <p:sldId id="277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79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2EDB8D0-98ED-4B86-9D5F-E61ADC70144D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5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18068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6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0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5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5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7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8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12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2EDB8D0-98ED-4B86-9D5F-E61ADC70144D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466C88B-B170-4C69-85D3-FD6AD975F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0FE256-DF37-4639-8CB7-2E2F1897A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89428-7E31-5416-EC5A-87AAB2768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2600" y="0"/>
            <a:ext cx="6387449" cy="4800600"/>
          </a:xfrm>
        </p:spPr>
        <p:txBody>
          <a:bodyPr>
            <a:normAutofit/>
          </a:bodyPr>
          <a:lstStyle/>
          <a:p>
            <a:r>
              <a:rPr lang="en-US" sz="5600" dirty="0" err="1">
                <a:solidFill>
                  <a:srgbClr val="FFFFFF"/>
                </a:solidFill>
              </a:rPr>
              <a:t>LoRaWAN</a:t>
            </a:r>
            <a:r>
              <a:rPr lang="en-US" sz="5600" dirty="0">
                <a:solidFill>
                  <a:srgbClr val="FFFFFF"/>
                </a:solidFill>
              </a:rPr>
              <a:t> Water Meter Connectivity: Analysis &amp; Prediction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E071F-D1F3-6654-0054-FEE7FCC83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8039" y="5246937"/>
            <a:ext cx="5157592" cy="16916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D9D9D9"/>
                </a:solidFill>
              </a:rPr>
              <a:t>Identifying and Predicting At-Risk Smart Water Meters</a:t>
            </a:r>
            <a:endParaRPr lang="en-IN" dirty="0">
              <a:solidFill>
                <a:srgbClr val="D9D9D9"/>
              </a:solidFill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DD1039A-772C-4213-A092-0D8A9EF4A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4" y="0"/>
            <a:ext cx="46199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Water">
            <a:extLst>
              <a:ext uri="{FF2B5EF4-FFF2-40B4-BE49-F238E27FC236}">
                <a16:creationId xmlns:a16="http://schemas.microsoft.com/office/drawing/2014/main" id="{247D8880-33F1-8CD0-653C-01D9A7988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87" y="1566474"/>
            <a:ext cx="3718563" cy="371856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B39728D-66CA-4175-956D-FE26F3225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2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7368F-2A36-601A-814B-E18AEECE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Dataset Attributes (5,000 meters)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of </a:t>
            </a:r>
            <a:r>
              <a:rPr lang="en-GB" sz="3600" dirty="0">
                <a:solidFill>
                  <a:schemeClr val="bg1"/>
                </a:solidFill>
              </a:rPr>
              <a:t>LoRaWAN Water Meters</a:t>
            </a:r>
            <a:endParaRPr lang="en-IN" sz="3600" dirty="0">
              <a:solidFill>
                <a:schemeClr val="bg1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5232214-5F23-6AD0-6E70-BDF90303D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r>
              <a:rPr lang="en-IN" sz="1700" b="1"/>
              <a:t>Identifier:</a:t>
            </a:r>
            <a:r>
              <a:rPr lang="en-IN" sz="1700"/>
              <a:t> MeterID</a:t>
            </a:r>
          </a:p>
          <a:p>
            <a:r>
              <a:rPr lang="en-IN" sz="1700" b="1"/>
              <a:t>Location:</a:t>
            </a:r>
            <a:r>
              <a:rPr lang="en-IN" sz="1700"/>
              <a:t> Latitude, Longitude</a:t>
            </a:r>
          </a:p>
          <a:p>
            <a:r>
              <a:rPr lang="en-IN" sz="1700" b="1"/>
              <a:t>Installation Factors:</a:t>
            </a:r>
            <a:endParaRPr lang="en-IN" sz="1700"/>
          </a:p>
          <a:p>
            <a:pPr lvl="1"/>
            <a:r>
              <a:rPr lang="en-IN" sz="1700"/>
              <a:t>DistanceToNearestGateway_m: How far the meter is from the network gateway.</a:t>
            </a:r>
          </a:p>
          <a:p>
            <a:pPr lvl="1"/>
            <a:r>
              <a:rPr lang="en-IN" sz="1700"/>
              <a:t>Depth_mm: How deep the meter is installed.</a:t>
            </a:r>
          </a:p>
          <a:p>
            <a:pPr lvl="1"/>
            <a:r>
              <a:rPr lang="en-IN" sz="1700"/>
              <a:t>LidType: The material of the chamber lid (Plastic, Composite, Cast Iron).</a:t>
            </a:r>
          </a:p>
          <a:p>
            <a:r>
              <a:rPr lang="en-IN" sz="1700" b="1"/>
              <a:t>Signal Characteristics (LoRaWAN):</a:t>
            </a:r>
            <a:endParaRPr lang="en-IN" sz="1700"/>
          </a:p>
          <a:p>
            <a:pPr lvl="1"/>
            <a:r>
              <a:rPr lang="en-IN" sz="1700"/>
              <a:t>RSSI_dBm: Received Signal Strength Indicator.</a:t>
            </a:r>
          </a:p>
          <a:p>
            <a:pPr lvl="1"/>
            <a:r>
              <a:rPr lang="en-IN" sz="1700"/>
              <a:t>SNR_dB: Signal-to-Noise Ratio.</a:t>
            </a:r>
          </a:p>
          <a:p>
            <a:pPr lvl="1"/>
            <a:r>
              <a:rPr lang="en-IN" sz="1700"/>
              <a:t>SpreadingFactor: A setting that balances data rate and range.</a:t>
            </a:r>
          </a:p>
          <a:p>
            <a:r>
              <a:rPr lang="en-IN" sz="1700" b="1"/>
              <a:t>Performance Metrics:</a:t>
            </a:r>
            <a:endParaRPr lang="en-IN" sz="1700"/>
          </a:p>
          <a:p>
            <a:pPr lvl="1"/>
            <a:r>
              <a:rPr lang="en-IN" sz="1700"/>
              <a:t>DSR_percent: The key performance metric (Data Success Rate).</a:t>
            </a:r>
          </a:p>
          <a:p>
            <a:pPr marL="0" indent="0">
              <a:buNone/>
            </a:pPr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26885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92163-DFB9-E970-3DD4-AD74D29A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>
                <a:solidFill>
                  <a:srgbClr val="FFFFFF"/>
                </a:solidFill>
              </a:rPr>
              <a:t>Summarised distribution of DSR across all meters.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8261B0-72B1-63E7-203B-783FF5517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161" y="61990"/>
            <a:ext cx="10201458" cy="504341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3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85B35-BCE3-C2CE-75DD-43A01BCD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r>
              <a:rPr lang="en-US" sz="4200" dirty="0"/>
              <a:t>Proportion of Binary Class (Target Value)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2F35F9-07F8-D248-7C61-A711B009A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550" y="133350"/>
            <a:ext cx="5123604" cy="48166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EE5EA8-2993-AD11-DDE4-CA94B32DC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886" y="1"/>
            <a:ext cx="5064732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1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E27E6-189F-5329-3B6C-6F12E7C9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200" dirty="0" err="1"/>
              <a:t>RSSI_dBm</a:t>
            </a:r>
            <a:r>
              <a:rPr lang="en-US" sz="4200" dirty="0"/>
              <a:t> Distribution over each class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19928-896E-4E3E-8F91-7D10639C5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"/>
            <a:ext cx="5245958" cy="420052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95E2F5-CAF2-009E-8EF4-C2496E2FD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03158" y="381000"/>
            <a:ext cx="5397460" cy="412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8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13146-D89F-DBC7-C6D1-C7C346AF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600" dirty="0" err="1"/>
              <a:t>SNR_dB</a:t>
            </a:r>
            <a:r>
              <a:rPr lang="en-US" sz="4600" dirty="0"/>
              <a:t> Distribution over each class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C5C388-36A3-0392-0EBF-B3A6A5012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800"/>
            <a:ext cx="5257800" cy="427672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FD8CE2-9D25-4507-41BF-D537DC8CF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35886" y="304800"/>
            <a:ext cx="5064732" cy="405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1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28BB2-5A07-4B60-84BD-61AFE3F4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r>
              <a:rPr lang="en-US" sz="4000" dirty="0" err="1"/>
              <a:t>SpreadingFactor</a:t>
            </a:r>
            <a:r>
              <a:rPr lang="en-US" sz="4000" dirty="0"/>
              <a:t> Distribution over each class</a:t>
            </a:r>
            <a:endParaRPr lang="en-US" sz="3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FF88F-4F3D-D1B1-C258-9F8ADE93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5225445" cy="423672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ABF514-AF92-0731-5B15-3E4361475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43600" y="228601"/>
            <a:ext cx="4953000" cy="423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75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D6E5B8-13CA-FD07-88DD-088E67CFF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200" dirty="0" err="1"/>
              <a:t>Depth_mm</a:t>
            </a:r>
            <a:r>
              <a:rPr lang="en-US" sz="4200" dirty="0"/>
              <a:t> Distribution over each class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D65D12-DDE7-68DE-4E73-61E7B20E2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0050"/>
            <a:ext cx="5205295" cy="418147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5AA1F4-21A6-8572-6DB8-D786D6A32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29299" y="600076"/>
            <a:ext cx="5205295" cy="390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98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D857E-9EDC-BFF0-B7EB-8BEBB4442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85000"/>
              </a:lnSpc>
            </a:pPr>
            <a:r>
              <a:rPr lang="en-US" sz="4000" dirty="0" err="1"/>
              <a:t>DistanceToNearestGateway_meters</a:t>
            </a:r>
            <a:r>
              <a:rPr lang="en-US" sz="4000" dirty="0"/>
              <a:t> Distribution over each class</a:t>
            </a:r>
            <a:endParaRPr lang="en-US" sz="3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741482-9361-A45B-3058-047AF2556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750"/>
            <a:ext cx="5245958" cy="417957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E7BAF9-AC5F-66AA-5868-B766DED2B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35886" y="285750"/>
            <a:ext cx="5064732" cy="41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3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717DC-EC8C-D4C2-F3C3-669F805B1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600" dirty="0" err="1">
                <a:solidFill>
                  <a:srgbClr val="FFFFFF"/>
                </a:solidFill>
              </a:rPr>
              <a:t>LidType</a:t>
            </a:r>
            <a:r>
              <a:rPr lang="en-US" sz="4600" dirty="0">
                <a:solidFill>
                  <a:srgbClr val="FFFFFF"/>
                </a:solidFill>
              </a:rPr>
              <a:t> Distribution over each class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0128A5-4053-330E-81B8-ECE321766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457200"/>
            <a:ext cx="10186218" cy="41243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5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E8D8C-7E01-0FCD-CAC3-DD546445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200"/>
              <a:t>DSR relates to RSSI_dBm and SNR_dB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8EFCA5-216D-8328-53FD-CAD75118B2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3350"/>
            <a:ext cx="5256954" cy="4448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9A4150-CEF3-F093-5566-1A900A489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886" y="266700"/>
            <a:ext cx="5064732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61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3D50B8-1D27-420D-BA4A-249914120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FBB176-B6C1-4B5A-AADA-F930947E0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20400" cy="49499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8CDC34-0F26-409D-B10F-578D4DCC4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EADF0-4E43-4976-DDD7-62D4FF2A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 dirty="0"/>
              <a:t>DSR relates to </a:t>
            </a:r>
            <a:r>
              <a:rPr lang="en-US" sz="3800" dirty="0" err="1"/>
              <a:t>SpreadingFactor</a:t>
            </a:r>
            <a:r>
              <a:rPr lang="en-US" sz="3800" dirty="0"/>
              <a:t> and </a:t>
            </a:r>
            <a:r>
              <a:rPr lang="en-US" sz="3800" dirty="0" err="1"/>
              <a:t>DistanceToNearestGateway_meters</a:t>
            </a:r>
            <a:endParaRPr lang="en-US" sz="3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1F1DCF-0209-5178-312D-12D52DA3F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61950"/>
            <a:ext cx="5256954" cy="4219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43E969-A410-5184-250F-E8C816CB0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886" y="361950"/>
            <a:ext cx="5064732" cy="421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30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C2ACF-44BF-A9AA-827E-38B2DE53F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10" y="0"/>
            <a:ext cx="9692640" cy="1325562"/>
          </a:xfrm>
        </p:spPr>
        <p:txBody>
          <a:bodyPr/>
          <a:lstStyle/>
          <a:p>
            <a:r>
              <a:rPr lang="en-IN" dirty="0"/>
              <a:t>DSR relates to </a:t>
            </a:r>
            <a:r>
              <a:rPr lang="en-IN" dirty="0" err="1"/>
              <a:t>Depth_mm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963503-F89C-B620-A1F4-37897A2BD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828800"/>
            <a:ext cx="98869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35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548E0-8BA0-FC28-3953-F8243C95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>
                <a:solidFill>
                  <a:srgbClr val="FFFFFF"/>
                </a:solidFill>
              </a:rPr>
              <a:t>Correlation Matrix between DSR and Features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4468DE-31C5-54D9-D7BF-429DBE207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311" y="123826"/>
            <a:ext cx="10643417" cy="48577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0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76C6D-3AE2-605D-48C4-2F6FF4591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Preprocessing Data Before Training a Predictive Model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07DB1-7A3B-CF83-4212-8F24F7B66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u="sng" dirty="0"/>
              <a:t>Dropped Columns Before Training Predictive Model:</a:t>
            </a:r>
          </a:p>
          <a:p>
            <a:pPr marL="0" indent="0">
              <a:buNone/>
            </a:pPr>
            <a:r>
              <a:rPr lang="en-IN" sz="2000" dirty="0"/>
              <a:t>'</a:t>
            </a:r>
            <a:r>
              <a:rPr lang="en-IN" sz="2000" dirty="0" err="1"/>
              <a:t>MeterID</a:t>
            </a:r>
            <a:r>
              <a:rPr lang="en-IN" sz="2000" dirty="0"/>
              <a:t>', 'Latitude', 'Longitude '</a:t>
            </a:r>
            <a:r>
              <a:rPr lang="en-IN" sz="2000" dirty="0" err="1"/>
              <a:t>ExpectedReads</a:t>
            </a:r>
            <a:r>
              <a:rPr lang="en-IN" sz="2000" dirty="0"/>
              <a:t>', '</a:t>
            </a:r>
            <a:r>
              <a:rPr lang="en-IN" sz="2000" dirty="0" err="1"/>
              <a:t>ActualReads</a:t>
            </a:r>
            <a:r>
              <a:rPr lang="en-IN" sz="2000" dirty="0"/>
              <a:t>’,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u="sng" dirty="0"/>
              <a:t>Features for Predictive Model Training:</a:t>
            </a:r>
          </a:p>
          <a:p>
            <a:pPr marL="0" indent="0">
              <a:buNone/>
            </a:pPr>
            <a:r>
              <a:rPr lang="en-IN" sz="2000" dirty="0"/>
              <a:t>'</a:t>
            </a:r>
            <a:r>
              <a:rPr lang="en-IN" sz="2000" dirty="0" err="1"/>
              <a:t>LidType</a:t>
            </a:r>
            <a:r>
              <a:rPr lang="en-IN" sz="2000" dirty="0"/>
              <a:t>', '</a:t>
            </a:r>
            <a:r>
              <a:rPr lang="en-IN" sz="2000" dirty="0" err="1"/>
              <a:t>RSSI_dBm</a:t>
            </a:r>
            <a:r>
              <a:rPr lang="en-IN" sz="2000" dirty="0"/>
              <a:t>', '</a:t>
            </a:r>
            <a:r>
              <a:rPr lang="en-IN" sz="2000" dirty="0" err="1"/>
              <a:t>SNR_dB</a:t>
            </a:r>
            <a:r>
              <a:rPr lang="en-IN" sz="2000" dirty="0"/>
              <a:t>', '</a:t>
            </a:r>
            <a:r>
              <a:rPr lang="en-IN" sz="2000" dirty="0" err="1"/>
              <a:t>SpreadingFactor</a:t>
            </a:r>
            <a:r>
              <a:rPr lang="en-IN" sz="2000" dirty="0"/>
              <a:t>’, '</a:t>
            </a:r>
            <a:r>
              <a:rPr lang="en-IN" sz="2000" dirty="0" err="1"/>
              <a:t>DistanceToNearestGateway_meters</a:t>
            </a:r>
            <a:r>
              <a:rPr lang="en-IN" sz="2000" dirty="0"/>
              <a:t>', '</a:t>
            </a:r>
            <a:r>
              <a:rPr lang="en-IN" sz="2000" dirty="0" err="1"/>
              <a:t>DSR_percent</a:t>
            </a:r>
            <a:r>
              <a:rPr lang="en-IN" sz="2000" dirty="0"/>
              <a:t>', '</a:t>
            </a:r>
            <a:r>
              <a:rPr lang="en-IN" sz="2000" dirty="0" err="1"/>
              <a:t>Depth_mm</a:t>
            </a:r>
            <a:r>
              <a:rPr lang="en-IN" sz="2000" dirty="0"/>
              <a:t>’,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u="sng" dirty="0"/>
              <a:t>New Column Created for Target Variable:</a:t>
            </a:r>
          </a:p>
          <a:p>
            <a:pPr marL="0" indent="0">
              <a:buNone/>
            </a:pPr>
            <a:r>
              <a:rPr lang="en-IN" sz="2000" dirty="0"/>
              <a:t>'</a:t>
            </a:r>
            <a:r>
              <a:rPr lang="en-IN" sz="2000" dirty="0" err="1"/>
              <a:t>IsAtRisk</a:t>
            </a:r>
            <a:r>
              <a:rPr lang="en-IN" sz="2000" dirty="0"/>
              <a:t>’ = </a:t>
            </a:r>
            <a:r>
              <a:rPr lang="en-IN" sz="2000" dirty="0" err="1"/>
              <a:t>DSR_Percent</a:t>
            </a:r>
            <a:r>
              <a:rPr lang="en-IN" sz="2000" dirty="0"/>
              <a:t>&lt;85%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95320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D32F-A0A4-2E4C-6663-3B208E16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365760"/>
            <a:ext cx="10210800" cy="996200"/>
          </a:xfrm>
        </p:spPr>
        <p:txBody>
          <a:bodyPr>
            <a:normAutofit/>
          </a:bodyPr>
          <a:lstStyle/>
          <a:p>
            <a:r>
              <a:rPr lang="en-IN" dirty="0"/>
              <a:t>Logistic Regression Evaluation Matrix: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FE1FC5-F685-4703-A003-BBB7365EC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0" y="2000941"/>
            <a:ext cx="3805428" cy="919021"/>
          </a:xfrm>
        </p:spPr>
        <p:txBody>
          <a:bodyPr/>
          <a:lstStyle/>
          <a:p>
            <a:r>
              <a:rPr lang="en-IN" dirty="0"/>
              <a:t>For Logistic Regression:</a:t>
            </a:r>
          </a:p>
          <a:p>
            <a:r>
              <a:rPr lang="en-IN" dirty="0"/>
              <a:t> Recall (At-Risk): 0.9696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0379BCC-094D-9EB7-1DC6-DE7171EF7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713654"/>
            <a:ext cx="4480560" cy="919021"/>
          </a:xfrm>
        </p:spPr>
        <p:txBody>
          <a:bodyPr/>
          <a:lstStyle/>
          <a:p>
            <a:r>
              <a:rPr lang="en-IN" dirty="0"/>
              <a:t>Feature Importance According to Logistic Regression</a:t>
            </a:r>
          </a:p>
          <a:p>
            <a:endParaRPr lang="en-IN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13F9971B-72AC-65B4-25EB-64A510A119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800" y="2632675"/>
            <a:ext cx="5418137" cy="3596674"/>
          </a:xfrm>
          <a:prstGeom prst="rect">
            <a:avLst/>
          </a:prstGeo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1A8E86B9-0FC8-98DB-C0C6-AABD492A1BB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26162" y="2632676"/>
            <a:ext cx="5094287" cy="359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50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9F1F-87A6-3130-1DA1-0A353B46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5931-05D4-E2BA-6141-8320073B5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80170"/>
            <a:ext cx="9692640" cy="1325562"/>
          </a:xfrm>
        </p:spPr>
        <p:txBody>
          <a:bodyPr/>
          <a:lstStyle/>
          <a:p>
            <a:r>
              <a:rPr lang="en-IN" dirty="0"/>
              <a:t>Random Forest Classifier Evaluation Matrix: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87CFF8D-FB2C-90D6-777D-158D295BE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668" y="1403351"/>
            <a:ext cx="4372585" cy="1209428"/>
          </a:xfrm>
        </p:spPr>
        <p:txBody>
          <a:bodyPr/>
          <a:lstStyle/>
          <a:p>
            <a:r>
              <a:rPr lang="en-IN" dirty="0"/>
              <a:t>For Random Forest Model:</a:t>
            </a:r>
          </a:p>
          <a:p>
            <a:r>
              <a:rPr lang="en-IN" dirty="0"/>
              <a:t>Recall (At-Risk): 0.9895</a:t>
            </a:r>
          </a:p>
          <a:p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559FF9-F932-907B-B258-5A2F6D127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5030" y="1403351"/>
            <a:ext cx="4480560" cy="919021"/>
          </a:xfrm>
        </p:spPr>
        <p:txBody>
          <a:bodyPr/>
          <a:lstStyle/>
          <a:p>
            <a:r>
              <a:rPr lang="en-IN" dirty="0"/>
              <a:t>Feature Importance According to Random Forest Classifier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FD2345-4630-4053-325E-96568F5E5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1314" y="2435258"/>
            <a:ext cx="5498164" cy="420074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5C2CB1F-B4A3-BBD5-90C5-30535368B02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26162" y="2435258"/>
            <a:ext cx="4884737" cy="404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74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DA7C-EFF2-A55B-2425-28F511F0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8F92-7AE9-D9E0-6C79-BC656DC3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80170"/>
            <a:ext cx="9692640" cy="1325562"/>
          </a:xfrm>
        </p:spPr>
        <p:txBody>
          <a:bodyPr/>
          <a:lstStyle/>
          <a:p>
            <a:r>
              <a:rPr lang="en-IN" dirty="0"/>
              <a:t>XGB Classifier Evaluation Matrix: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26377B3-0957-D410-A265-E3F2F6445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668" y="1403351"/>
            <a:ext cx="4372585" cy="1209428"/>
          </a:xfrm>
        </p:spPr>
        <p:txBody>
          <a:bodyPr/>
          <a:lstStyle/>
          <a:p>
            <a:r>
              <a:rPr lang="en-IN" dirty="0"/>
              <a:t>For XGB Model:</a:t>
            </a:r>
          </a:p>
          <a:p>
            <a:r>
              <a:rPr lang="en-IN" dirty="0"/>
              <a:t>Recall (At-Risk): 0.9895</a:t>
            </a:r>
          </a:p>
          <a:p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467645-2121-2C12-667F-4F69C3341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5030" y="1403351"/>
            <a:ext cx="4480560" cy="919021"/>
          </a:xfrm>
        </p:spPr>
        <p:txBody>
          <a:bodyPr/>
          <a:lstStyle/>
          <a:p>
            <a:r>
              <a:rPr lang="en-IN" dirty="0"/>
              <a:t>Feature Importance According to XGB Classifier</a:t>
            </a:r>
          </a:p>
          <a:p>
            <a:endParaRPr lang="en-IN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D2AB06F4-639E-4777-C053-38225293CB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9100" y="2457450"/>
            <a:ext cx="5226349" cy="4000500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A3792CDB-7897-DF20-74F4-DB1CF6CC62A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798168" y="2457450"/>
            <a:ext cx="5498164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52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BB1F435-BC6C-E85E-CB7B-AFF532E5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Conclusion:</a:t>
            </a: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6A59ED-A6C9-016C-D3C7-E8E103DD0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/>
              <a:t>Features that are affecting the DSR Percent </a:t>
            </a:r>
            <a:r>
              <a:rPr lang="en-IN" sz="2400" b="1" u="sng"/>
              <a:t>and IsAtRisk </a:t>
            </a:r>
            <a:r>
              <a:rPr lang="en-IN" sz="2400" b="1" u="sng" dirty="0"/>
              <a:t>Column are: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/>
              <a:t> RSSI_dBm </a:t>
            </a:r>
            <a:r>
              <a:rPr lang="en-IN" sz="2400" dirty="0"/>
              <a:t>Best Value[ -87 dBm to -75dBm ]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/>
              <a:t> SNR_dB </a:t>
            </a:r>
            <a:r>
              <a:rPr lang="en-IN" sz="2400" dirty="0"/>
              <a:t>Best Value[ 5 dB to 15 dB]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 Spreading Factor Best Value [7 to 11]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/>
              <a:t> DistanceToNearestGateway_meters </a:t>
            </a:r>
            <a:r>
              <a:rPr lang="en-IN" sz="2400" dirty="0"/>
              <a:t>Best Value [0 m – 200 m]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1545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C05438-8975-4783-BCC7-9A4F0BD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44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0ACCC9-A5C0-44FC-9472-E3E4BF4B4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3EED6-221C-1899-14BD-B13F467C6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093" y="612648"/>
            <a:ext cx="4661793" cy="98755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6600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59FB7-2B75-1323-8DC1-EBF2740041F6}"/>
              </a:ext>
            </a:extLst>
          </p:cNvPr>
          <p:cNvSpPr txBox="1"/>
          <p:nvPr/>
        </p:nvSpPr>
        <p:spPr>
          <a:xfrm>
            <a:off x="6835689" y="1600200"/>
            <a:ext cx="3922103" cy="1691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5000"/>
              </a:lnSpc>
              <a:spcBef>
                <a:spcPts val="1200"/>
              </a:spcBef>
              <a:buClr>
                <a:schemeClr val="accent1"/>
              </a:buClr>
              <a:buSzPct val="80000"/>
            </a:pPr>
            <a:endParaRPr lang="en-US" sz="2000" spc="10" dirty="0">
              <a:solidFill>
                <a:srgbClr val="D9D9D9"/>
              </a:solidFill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8B8E8AE-1882-46F3-94E7-A2A391494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2283" y="0"/>
            <a:ext cx="60873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AE0C4B-4D5E-48B0-929B-038F7E948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12D48E-3D4E-6E9F-9DA7-0942CB5BF365}"/>
              </a:ext>
            </a:extLst>
          </p:cNvPr>
          <p:cNvSpPr txBox="1"/>
          <p:nvPr/>
        </p:nvSpPr>
        <p:spPr>
          <a:xfrm>
            <a:off x="6991925" y="5016934"/>
            <a:ext cx="32956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>
                <a:solidFill>
                  <a:schemeClr val="bg1"/>
                </a:solidFill>
              </a:rPr>
              <a:t>Kamran Nawaz</a:t>
            </a:r>
          </a:p>
          <a:p>
            <a:pPr>
              <a:spcAft>
                <a:spcPts val="600"/>
              </a:spcAft>
            </a:pPr>
            <a:r>
              <a:rPr lang="en-IN" dirty="0">
                <a:solidFill>
                  <a:schemeClr val="bg1"/>
                </a:solidFill>
              </a:rPr>
              <a:t>Technical Lead (</a:t>
            </a:r>
            <a:r>
              <a:rPr lang="en-IN" dirty="0" err="1">
                <a:solidFill>
                  <a:schemeClr val="bg1"/>
                </a:solidFill>
              </a:rPr>
              <a:t>LoraWAN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IN" dirty="0" err="1">
                <a:solidFill>
                  <a:schemeClr val="bg1"/>
                </a:solidFill>
              </a:rPr>
              <a:t>Netmore</a:t>
            </a:r>
            <a:r>
              <a:rPr lang="en-IN" dirty="0">
                <a:solidFill>
                  <a:schemeClr val="bg1"/>
                </a:solidFill>
              </a:rPr>
              <a:t> Group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0078F1-F25A-70FA-E54C-0A15C41A0ACC}"/>
              </a:ext>
            </a:extLst>
          </p:cNvPr>
          <p:cNvSpPr txBox="1"/>
          <p:nvPr/>
        </p:nvSpPr>
        <p:spPr>
          <a:xfrm>
            <a:off x="6991925" y="3124200"/>
            <a:ext cx="4596962" cy="118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5000"/>
              </a:lnSpc>
              <a:spcBef>
                <a:spcPts val="1200"/>
              </a:spcBef>
              <a:buClr>
                <a:schemeClr val="accent1"/>
              </a:buClr>
              <a:buSzPct val="80000"/>
            </a:pPr>
            <a:r>
              <a:rPr lang="en-US" sz="1800" b="1" spc="10" dirty="0">
                <a:solidFill>
                  <a:schemeClr val="bg1"/>
                </a:solidFill>
              </a:rPr>
              <a:t>Dominic Murphy</a:t>
            </a:r>
          </a:p>
          <a:p>
            <a:pPr defTabSz="914400">
              <a:lnSpc>
                <a:spcPct val="95000"/>
              </a:lnSpc>
              <a:spcBef>
                <a:spcPts val="1200"/>
              </a:spcBef>
              <a:buClr>
                <a:schemeClr val="accent1"/>
              </a:buClr>
              <a:buSzPct val="80000"/>
            </a:pPr>
            <a:r>
              <a:rPr lang="en-US" sz="1800" spc="10" dirty="0">
                <a:solidFill>
                  <a:schemeClr val="bg1"/>
                </a:solidFill>
              </a:rPr>
              <a:t>Director of International Delivery</a:t>
            </a:r>
          </a:p>
          <a:p>
            <a:pPr defTabSz="914400">
              <a:lnSpc>
                <a:spcPct val="95000"/>
              </a:lnSpc>
              <a:spcBef>
                <a:spcPts val="1200"/>
              </a:spcBef>
              <a:buClr>
                <a:schemeClr val="accent1"/>
              </a:buClr>
              <a:buSzPct val="80000"/>
            </a:pPr>
            <a:r>
              <a:rPr lang="en-US" sz="1800" spc="10" dirty="0" err="1">
                <a:solidFill>
                  <a:schemeClr val="bg1"/>
                </a:solidFill>
              </a:rPr>
              <a:t>Netmore</a:t>
            </a:r>
            <a:r>
              <a:rPr lang="en-US" sz="1800" spc="10" dirty="0">
                <a:solidFill>
                  <a:schemeClr val="bg1"/>
                </a:solidFill>
              </a:rPr>
              <a:t> Group</a:t>
            </a:r>
          </a:p>
        </p:txBody>
      </p:sp>
    </p:spTree>
    <p:extLst>
      <p:ext uri="{BB962C8B-B14F-4D97-AF65-F5344CB8AC3E}">
        <p14:creationId xmlns:p14="http://schemas.microsoft.com/office/powerpoint/2010/main" val="378606023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2918</TotalTime>
  <Words>426</Words>
  <Application>Microsoft Office PowerPoint</Application>
  <PresentationFormat>Widescreen</PresentationFormat>
  <Paragraphs>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Schoolbook</vt:lpstr>
      <vt:lpstr>Wingdings</vt:lpstr>
      <vt:lpstr>Wingdings 2</vt:lpstr>
      <vt:lpstr>View</vt:lpstr>
      <vt:lpstr>LoRaWAN Water Meter Connectivity: Analysis &amp; Prediction</vt:lpstr>
      <vt:lpstr>Dataset Attributes (5,000 meters) of LoRaWAN Water Meters</vt:lpstr>
      <vt:lpstr>Summarised distribution of DSR across all meters.</vt:lpstr>
      <vt:lpstr>Proportion of Binary Class (Target Value)</vt:lpstr>
      <vt:lpstr>RSSI_dBm Distribution over each class</vt:lpstr>
      <vt:lpstr>SNR_dB Distribution over each class</vt:lpstr>
      <vt:lpstr>SpreadingFactor Distribution over each class</vt:lpstr>
      <vt:lpstr>Depth_mm Distribution over each class</vt:lpstr>
      <vt:lpstr>DistanceToNearestGateway_meters Distribution over each class</vt:lpstr>
      <vt:lpstr>LidType Distribution over each class</vt:lpstr>
      <vt:lpstr>DSR relates to RSSI_dBm and SNR_dB</vt:lpstr>
      <vt:lpstr>DSR relates to SpreadingFactor and DistanceToNearestGateway_meters</vt:lpstr>
      <vt:lpstr>DSR relates to Depth_mm</vt:lpstr>
      <vt:lpstr>Correlation Matrix between DSR and Features</vt:lpstr>
      <vt:lpstr>Preprocessing Data Before Training a Predictive Model</vt:lpstr>
      <vt:lpstr>Logistic Regression Evaluation Matrix:</vt:lpstr>
      <vt:lpstr>Random Forest Classifier Evaluation Matrix:</vt:lpstr>
      <vt:lpstr>XGB Classifier Evaluation Matrix: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Umesh Chandra Reddy</dc:creator>
  <cp:lastModifiedBy>Sai Umesh Chandra Reddy</cp:lastModifiedBy>
  <cp:revision>3</cp:revision>
  <dcterms:created xsi:type="dcterms:W3CDTF">2025-10-08T22:30:04Z</dcterms:created>
  <dcterms:modified xsi:type="dcterms:W3CDTF">2025-10-10T23:09:02Z</dcterms:modified>
</cp:coreProperties>
</file>